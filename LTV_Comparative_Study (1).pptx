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0972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0" y="0"/>
            <a:ext cx="7315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 OF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MODELS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 Prediction | E-Commerce Dataset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502920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2918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291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76272" y="32918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76272" y="3291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95344" y="32918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95344" y="3291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+ OLS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14416" y="32918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14416" y="3291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33488" y="3291840"/>
            <a:ext cx="1508760" cy="457200"/>
          </a:xfrm>
          <a:prstGeom prst="roundRect">
            <a:avLst>
              <a:gd name="adj" fmla="val 16000"/>
            </a:avLst>
          </a:prstGeom>
          <a:solidFill>
            <a:srgbClr val="1C23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33488" y="32918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50,000  |  27 Predictors  |  Target: log1p(LTV)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PROBLEM OVERVIEW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097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192024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822960"/>
            <a:ext cx="1920240" cy="1097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50592" y="822960"/>
            <a:ext cx="192024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2450592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822960"/>
            <a:ext cx="1920240" cy="1097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822960"/>
            <a:ext cx="1920240" cy="64008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Engineering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03136" y="822960"/>
            <a:ext cx="1920240" cy="10972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03136" y="822960"/>
            <a:ext cx="1920240" cy="64008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03136" y="9144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2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$1,441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03136" y="15087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LTV</a:t>
            </a:r>
            <a:endParaRPr lang="en-US" sz="1100" dirty="0"/>
          </a:p>
        </p:txBody>
      </p:sp>
      <p:pic>
        <p:nvPicPr>
          <p:cNvPr id="20" name="Image 0" descr="/home/claude/g1_mis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011680"/>
            <a:ext cx="4572000" cy="283464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074920" y="2011680"/>
            <a:ext cx="3794760" cy="28346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212080" y="21031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Target: Lifetime_Value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212080" y="2560320"/>
            <a:ext cx="3520440" cy="23774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4" name="Text 21"/>
          <p:cNvSpPr/>
          <p:nvPr/>
        </p:nvSpPr>
        <p:spPr>
          <a:xfrm>
            <a:off x="5303520" y="25603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223760" y="25603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$1,440.63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212080" y="2834640"/>
            <a:ext cx="352044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Text 24"/>
          <p:cNvSpPr/>
          <p:nvPr/>
        </p:nvSpPr>
        <p:spPr>
          <a:xfrm>
            <a:off x="5303520" y="28346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223760" y="28346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$1,243.41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212080" y="3108960"/>
            <a:ext cx="3520440" cy="23774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30" name="Text 27"/>
          <p:cNvSpPr/>
          <p:nvPr/>
        </p:nvSpPr>
        <p:spPr>
          <a:xfrm>
            <a:off x="5303520" y="31089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223760" y="31089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$907.25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212080" y="3383280"/>
            <a:ext cx="352044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Text 30"/>
          <p:cNvSpPr/>
          <p:nvPr/>
        </p:nvSpPr>
        <p:spPr>
          <a:xfrm>
            <a:off x="5303520" y="33832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7223760" y="338328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$0.00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212080" y="3657600"/>
            <a:ext cx="3520440" cy="23774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36" name="Text 33"/>
          <p:cNvSpPr/>
          <p:nvPr/>
        </p:nvSpPr>
        <p:spPr>
          <a:xfrm>
            <a:off x="5303520" y="36576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223760" y="36576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$8,987.24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212080" y="3931920"/>
            <a:ext cx="352044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9" name="Text 36"/>
          <p:cNvSpPr/>
          <p:nvPr/>
        </p:nvSpPr>
        <p:spPr>
          <a:xfrm>
            <a:off x="5303520" y="393192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223760" y="3931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1.4474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212080" y="4206240"/>
            <a:ext cx="3520440" cy="23774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42" name="Text 39"/>
          <p:cNvSpPr/>
          <p:nvPr/>
        </p:nvSpPr>
        <p:spPr>
          <a:xfrm>
            <a:off x="5303520" y="42062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223760" y="420624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3.2736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5212080" y="4480560"/>
            <a:ext cx="352044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5" name="Text 42"/>
          <p:cNvSpPr/>
          <p:nvPr/>
        </p:nvSpPr>
        <p:spPr>
          <a:xfrm>
            <a:off x="5303520" y="44805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NaN after impute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7223760" y="448056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ENGINEERING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73152" cy="1188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4183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Engagement_Index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840480" cy="3200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Session_Duration_Avg  ×  Pages_Per_Session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94183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0640" y="941832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duration nor pages alone captures engagement quality. Their product reflects active shopping behaviour — key driver of LTV. VIF=20, T-stat=48 — strongest predictor.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194560"/>
            <a:ext cx="859536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94560"/>
            <a:ext cx="73152" cy="1188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6771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Purchase_Recency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3840480" cy="3200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51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(Days_Since_Last_Purchase + 1)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26771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20640" y="2267712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days is right-skewed with diminishing returns. The inverse gives heavy weight to recent buyers — a customer who bought 5 days ago is far more valuable than one who bought 300 days ago.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520440"/>
            <a:ext cx="8595360" cy="1188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520440"/>
            <a:ext cx="73152" cy="1188720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593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Loyalty_Ratio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840480" cy="3200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977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Total_Purchases / (Membership_Years + 1)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59359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20640" y="3593592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purchases over 10 years ≠ 50 purchases over 2 years. Normalising by tenure captures purchase rate, not just volume — a stronger LTV signal.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Engagement_Index VIF = 20.09 — highest multicollinearity. Addressed via Lasso selection and PCA.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MULTICOLLINEARITY ANALYSIS — VIF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65176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65176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595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&lt; 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11556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Acceptable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804672"/>
            <a:ext cx="265176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04672"/>
            <a:ext cx="2651760" cy="54864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8595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5–10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11556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Monitor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804672"/>
            <a:ext cx="2651760" cy="59436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804672"/>
            <a:ext cx="2651760" cy="54864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8595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 &gt; 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11556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Unstable</a:t>
            </a:r>
            <a:endParaRPr lang="en-US" sz="1000" dirty="0"/>
          </a:p>
        </p:txBody>
      </p:sp>
      <p:pic>
        <p:nvPicPr>
          <p:cNvPr id="16" name="Image 0" descr="/home/claude/g3_vi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08760"/>
            <a:ext cx="8595360" cy="33375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74320" y="4892040"/>
            <a:ext cx="8595360" cy="20116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89204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1 feature VIF &gt; 10  |  3 features VIF 5–10  |  23 features VIF &lt; 5  |  Lasso and PCR both address this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TRANSFORMATIONS?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69748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69748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5953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 Correct Functional 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29844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Log-linear relationship. R² jumped 0.50 → 0.91.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82112" y="804672"/>
            <a:ext cx="269748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804672"/>
            <a:ext cx="269748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85953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 Homoscedasticity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29844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residual variance across fitted values.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804672"/>
            <a:ext cx="2697480" cy="10058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804672"/>
            <a:ext cx="2697480" cy="54864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4" name="Text 12"/>
          <p:cNvSpPr/>
          <p:nvPr/>
        </p:nvSpPr>
        <p:spPr>
          <a:xfrm>
            <a:off x="6199632" y="85953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 Reduce Target Skewness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9632" y="129844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skew 1.45 → -0.67 after log transform.</a:t>
            </a:r>
            <a:endParaRPr lang="en-US" sz="1050" dirty="0"/>
          </a:p>
        </p:txBody>
      </p:sp>
      <p:pic>
        <p:nvPicPr>
          <p:cNvPr id="16" name="Image 0" descr="/home/claude/g2_ltv_d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920240"/>
            <a:ext cx="8595360" cy="28803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274320" y="4873752"/>
            <a:ext cx="8595360" cy="20116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87375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Pipeline: log1p(y)  →  Yeo-Johnson on 14 skewed features  →  Winsorize (1st–99th pct)  →  StandardScaler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OLS REGRESSION — ORIGINAL vs TRANSFORMED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60520" cy="64008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OLS — Original Variables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3886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371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68880" y="1371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0.5052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709928"/>
            <a:ext cx="3886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099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68880" y="17099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0.5049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048256"/>
            <a:ext cx="3886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0482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$638.17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386584"/>
            <a:ext cx="3886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3865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68880" y="23865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$444.63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2724912"/>
            <a:ext cx="3886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7249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68880" y="27249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0.5028 ± 0.017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3063240"/>
            <a:ext cx="3886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Skew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68880" y="3063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401568"/>
            <a:ext cx="3886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4015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Kurt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68880" y="34015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8.853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739896"/>
            <a:ext cx="3886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37398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 Variables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468880" y="3739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27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822960"/>
            <a:ext cx="4160520" cy="347472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822960"/>
            <a:ext cx="416052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914400"/>
            <a:ext cx="3886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OLS — Transformed Variables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1371600"/>
            <a:ext cx="3886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1371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03720" y="13716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0.9138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46320" y="1709928"/>
            <a:ext cx="3886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4937760" y="17099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903720" y="17099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0.9138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2048256"/>
            <a:ext cx="3886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204825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03720" y="20482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0.1948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46320" y="2386584"/>
            <a:ext cx="3886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0" y="238658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903720" y="23865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0.1301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846320" y="2724912"/>
            <a:ext cx="3886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47" name="Text 45"/>
          <p:cNvSpPr/>
          <p:nvPr/>
        </p:nvSpPr>
        <p:spPr>
          <a:xfrm>
            <a:off x="4937760" y="27249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903720" y="27249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0.9137 ± 0.009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846320" y="3063240"/>
            <a:ext cx="3886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0" name="Text 48"/>
          <p:cNvSpPr/>
          <p:nvPr/>
        </p:nvSpPr>
        <p:spPr>
          <a:xfrm>
            <a:off x="4937760" y="3063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Skew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903720" y="3063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-5.455 ⚠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846320" y="3401568"/>
            <a:ext cx="3886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53" name="Text 51"/>
          <p:cNvSpPr/>
          <p:nvPr/>
        </p:nvSpPr>
        <p:spPr>
          <a:xfrm>
            <a:off x="4937760" y="34015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Kurt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903720" y="34015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136.4 ⚠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846320" y="3739896"/>
            <a:ext cx="3886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6" name="Text 54"/>
          <p:cNvSpPr/>
          <p:nvPr/>
        </p:nvSpPr>
        <p:spPr>
          <a:xfrm>
            <a:off x="4937760" y="373989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Sig. Variables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903720" y="3739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27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206240" y="2057400"/>
            <a:ext cx="731520" cy="38404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9" name="Text 57"/>
          <p:cNvSpPr/>
          <p:nvPr/>
        </p:nvSpPr>
        <p:spPr>
          <a:xfrm>
            <a:off x="4206240" y="205740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+81%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pic>
        <p:nvPicPr>
          <p:cNvPr id="60" name="Image 0" descr="/home/claude/g6_tst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389120"/>
            <a:ext cx="8595360" cy="914400"/>
          </a:xfrm>
          <a:prstGeom prst="rect">
            <a:avLst/>
          </a:prstGeom>
        </p:spPr>
      </p:pic>
      <p:pic>
        <p:nvPicPr>
          <p:cNvPr id="61" name="Image 1" descr="/home/claude/g6_tst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407408"/>
            <a:ext cx="8595360" cy="914400"/>
          </a:xfrm>
          <a:prstGeom prst="rect">
            <a:avLst/>
          </a:prstGeom>
        </p:spPr>
      </p:pic>
      <p:sp>
        <p:nvSpPr>
          <p:cNvPr id="62" name="Shape 58"/>
          <p:cNvSpPr/>
          <p:nvPr/>
        </p:nvSpPr>
        <p:spPr>
          <a:xfrm>
            <a:off x="274320" y="4407408"/>
            <a:ext cx="8595360" cy="621792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63" name="Text 59"/>
          <p:cNvSpPr/>
          <p:nvPr/>
        </p:nvSpPr>
        <p:spPr>
          <a:xfrm>
            <a:off x="457200" y="443484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Residual issues in transformed model caused by LTV=$0 records (log1p(0)=0 creates outlier residuals). Fix: filter y &gt; 0 before modeling.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Transformation correct — wrong functional form without it. R² jump from 0.50→0.91 proves log-linear relationship exists.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2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RIDGE REGRESSION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69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Ridge 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533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L2 penalty to OLS loss function: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3657600" cy="41148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7335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||y − Xβ||²  +  λ||β||²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coefficients toward zero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selection: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all 27 vars retained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α: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1.7575 (10-fold CV)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63931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instability from multicollinearity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3657600" cy="65836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096512"/>
            <a:ext cx="3474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KEY: </a:t>
            </a:r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R² = OLS Transformed R² exactly. With only 1 high-VIF feature, α=1.76 barely penalised anything. Ridge added zero value. Lasso is the correct tool here.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822960"/>
            <a:ext cx="4297680" cy="4069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1389888"/>
            <a:ext cx="4023360" cy="32918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3898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995160" y="138988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0.913805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773936"/>
            <a:ext cx="402336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17739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95160" y="177393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0.913758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157984"/>
            <a:ext cx="4023360" cy="32918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215798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995160" y="21579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0.194780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2542032"/>
            <a:ext cx="402336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254203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95160" y="254203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0.130078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2926080"/>
            <a:ext cx="4023360" cy="32918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92608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995160" y="29260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0.913734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310128"/>
            <a:ext cx="402336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31012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95160" y="331012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0.008596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694176"/>
            <a:ext cx="4023360" cy="32918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69417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Skew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995160" y="3694176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-5.456 ⚠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4078224"/>
            <a:ext cx="402336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407822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Kurt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95160" y="407822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136.4 ⚠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LASSO SELECTION + OLS ON SELECTED VARIABLES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23360" cy="40690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Lasso + OLS?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57600" cy="38404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||y − Xβ||²  +  λ||β||₁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penalty zeroes out useless coefficients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variable selection — removes noise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883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Parsimonious model — only real predictors remain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181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on selected vars: unpenalised, clean R²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547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 meaningful — fewer, genuine predictors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R² is the fair comparison against PCR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822960"/>
            <a:ext cx="4297680" cy="1920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9144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Two-Step Process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325880"/>
            <a:ext cx="4023360" cy="38404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3258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LassoCV  →  find optimal α  →  zero out useless vars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09160" y="1783080"/>
            <a:ext cx="4023360" cy="38404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78308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OLS on selected vars  →  clean, interpretable R²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2880360"/>
            <a:ext cx="4297680" cy="201168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2971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vs OLS Transformed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09160" y="3410712"/>
            <a:ext cx="4023360" cy="32918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4107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Transformed R²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12280" y="3410712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 (inflated, 27 vars)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794760"/>
            <a:ext cx="402336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379476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Lasso+OLS R²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12280" y="37947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~0.89 (honest, k&lt;27 vars)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4178808"/>
            <a:ext cx="4023360" cy="32918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417880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 difference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12280" y="4178808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will be higher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4562856"/>
            <a:ext cx="4023360" cy="32918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456285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812280" y="4562856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— fewer spurious vars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PRINCIPAL COMPONENT REGRESSION (PCR)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657600" cy="4206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PCR Works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47472" cy="347472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984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9844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27 correlated features → 27 orthogonal components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347472" cy="347472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568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956816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17 components (≥90% cumulative variance)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347472" cy="347472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151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615184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on 17 components — zero multicollinearity by construction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291840" cy="23774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918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48840" y="329184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0.763672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329184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5661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356616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0.763591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3291840" cy="23774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8404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384048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0.322524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329184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1480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48840" y="411480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0.763364 ± 0.009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3291840" cy="237744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3891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 Skew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48840" y="438912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-1.632 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663440"/>
            <a:ext cx="3291840" cy="23774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66344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 Kurt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148840" y="4663440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24.04 ✓</a:t>
            </a:r>
            <a:endParaRPr lang="en-US" sz="1000" dirty="0"/>
          </a:p>
        </p:txBody>
      </p:sp>
      <p:pic>
        <p:nvPicPr>
          <p:cNvPr id="33" name="Image 0" descr="/home/claude/g7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804672"/>
            <a:ext cx="4754880" cy="3017520"/>
          </a:xfrm>
          <a:prstGeom prst="rect">
            <a:avLst/>
          </a:prstGeom>
        </p:spPr>
      </p:pic>
      <p:sp>
        <p:nvSpPr>
          <p:cNvPr id="34" name="Shape 31"/>
          <p:cNvSpPr/>
          <p:nvPr/>
        </p:nvSpPr>
        <p:spPr>
          <a:xfrm>
            <a:off x="4114800" y="3931920"/>
            <a:ext cx="4754880" cy="1078992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4251960" y="40050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Advantage: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eliminates multicollinearity. VIF=1 for all components.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251960" y="44074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Disadvantage: 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interpretability. Cannot identify which original variables drive LTV.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8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REGRESSION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200400" cy="4206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 &amp; Results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2743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533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74520" y="135331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743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916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169164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29968"/>
            <a:ext cx="2743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0299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74520" y="202996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68296"/>
            <a:ext cx="2743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3682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74520" y="236829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06624"/>
            <a:ext cx="2743200" cy="36576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044952"/>
            <a:ext cx="2743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449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74520" y="304495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0.976600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2743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383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74520" y="3383280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0.976587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21608"/>
            <a:ext cx="2743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216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74520" y="3721608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0.101488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59936"/>
            <a:ext cx="2743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05993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74520" y="4059936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0.069347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398264"/>
            <a:ext cx="2743200" cy="29260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39826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74520" y="43982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0.948990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736592"/>
            <a:ext cx="2743200" cy="292608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73659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74520" y="4736592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0.007659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0" y="804672"/>
            <a:ext cx="5212080" cy="4206240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794760" y="8961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8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RF Outperforms All Linear Models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794760" y="138988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Non-linearity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94760" y="1719072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 non-linear relationships. LTV behaviour is inherently non-linear — RF exploits this, OLS cannot.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794760" y="22585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Assumptions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794760" y="2587752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require homoscedasticity, normality of residuals, or linear X-Y relationships.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794760" y="31272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Interactions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794760" y="3456432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detects interaction effects — e.g. high engagement + recent purchase + high AOV.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794760" y="39959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81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Overfitting Check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794760" y="4325112"/>
            <a:ext cx="4937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R²=0.977 vs CV R²=0.949. Gap=0.028 — acceptable. Not overfitting.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347472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194560" y="777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08960" y="7772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 R²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023360" y="777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0" y="777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R²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0" y="777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 Skew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06640" y="777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 Kurt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188720"/>
            <a:ext cx="859536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1188720"/>
            <a:ext cx="54864" cy="347472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1887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(Original)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11887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08960" y="11887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638.17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0" y="1188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0.503±0.017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06640" y="118872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572768"/>
            <a:ext cx="8595360" cy="347472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1572768"/>
            <a:ext cx="54864" cy="3474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157276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(Transformed)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15727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108960" y="15727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23360" y="1572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157276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0.914±0.009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1572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-5.455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06640" y="1572768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1956816"/>
            <a:ext cx="859536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1956816"/>
            <a:ext cx="54864" cy="347472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19568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2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94560" y="19568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08960" y="19568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023360" y="19568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19568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0.914±0.009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19568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-5.456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06640" y="1956816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2340864"/>
            <a:ext cx="8595360" cy="347472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40" name="Shape 38"/>
          <p:cNvSpPr/>
          <p:nvPr/>
        </p:nvSpPr>
        <p:spPr>
          <a:xfrm>
            <a:off x="274320" y="2340864"/>
            <a:ext cx="54864" cy="347472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23408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Lasso+OLS*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94560" y="234086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~0.89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108960" y="234086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~0.89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023360" y="234086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~0.21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029200" y="23408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~0.89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0" y="234086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06640" y="234086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2724912"/>
            <a:ext cx="859536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9" name="Shape 47"/>
          <p:cNvSpPr/>
          <p:nvPr/>
        </p:nvSpPr>
        <p:spPr>
          <a:xfrm>
            <a:off x="274320" y="2724912"/>
            <a:ext cx="54864" cy="347472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50" name="Text 48"/>
          <p:cNvSpPr/>
          <p:nvPr/>
        </p:nvSpPr>
        <p:spPr>
          <a:xfrm>
            <a:off x="365760" y="272491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(17 comp.)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194560" y="27249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0.764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108960" y="272491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023360" y="27249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0.323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0" y="272491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0.763±0.009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00800" y="27249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-1.632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06640" y="272491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74320" y="3108960"/>
            <a:ext cx="8595360" cy="347472"/>
          </a:xfrm>
          <a:prstGeom prst="rect">
            <a:avLst/>
          </a:prstGeom>
          <a:solidFill>
            <a:srgbClr val="1A2233"/>
          </a:solidFill>
          <a:ln/>
        </p:spPr>
      </p:sp>
      <p:sp>
        <p:nvSpPr>
          <p:cNvPr id="58" name="Shape 56"/>
          <p:cNvSpPr/>
          <p:nvPr/>
        </p:nvSpPr>
        <p:spPr>
          <a:xfrm>
            <a:off x="274320" y="3108960"/>
            <a:ext cx="54864" cy="347472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3108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194560" y="31089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3108960" y="31089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0.977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023360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0.101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29200" y="3108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0.949±0.008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400800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-10.7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406640" y="310896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438</a:t>
            </a:r>
            <a:endParaRPr lang="en-US" sz="1000" dirty="0"/>
          </a:p>
        </p:txBody>
      </p:sp>
      <p:pic>
        <p:nvPicPr>
          <p:cNvPr id="66" name="Image 0" descr="/home/claude/g4_r2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547872"/>
            <a:ext cx="5212080" cy="1481328"/>
          </a:xfrm>
          <a:prstGeom prst="rect">
            <a:avLst/>
          </a:prstGeom>
        </p:spPr>
      </p:pic>
      <p:pic>
        <p:nvPicPr>
          <p:cNvPr id="67" name="Image 1" descr="/home/claude/g5_residu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547872"/>
            <a:ext cx="3291840" cy="14813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 &amp; CONCLUSIONS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60520" cy="184708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416052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14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9326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Transformation was necessary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Log(LTV) corrected functional form, fixed heteroscedasticity, reduced skewness. R² improved 0.50→0.91. Residual issues stem from LTV=$0 records, not the transform.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41248"/>
            <a:ext cx="4160520" cy="184708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41248"/>
            <a:ext cx="4160520" cy="64008"/>
          </a:xfrm>
          <a:prstGeom prst="rect">
            <a:avLst/>
          </a:prstGeom>
          <a:solidFill>
            <a:srgbClr val="D2A8F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1440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2A8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23560" y="93268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Ridge added no value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46320" y="143560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high-VIF feature meant α=1.76 barely penalised anything. R², RMSE, CV identical to OLS Transformed. Lasso is the correct tool.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71216"/>
            <a:ext cx="4160520" cy="184708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71216"/>
            <a:ext cx="4160520" cy="64008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294436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A6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29626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PCR is most honest linear model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" y="3465576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R²=0.764 is lower but residuals are cleanest (skew=-1.63, kurt=24). Orthogonal components eliminate multicollinearity. Trade-off: no interpretability.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871216"/>
            <a:ext cx="4160520" cy="1847088"/>
          </a:xfrm>
          <a:prstGeom prst="rect">
            <a:avLst/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71216"/>
            <a:ext cx="416052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4436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623560" y="29626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ED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Lasso needed for fair comparison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46320" y="3465576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Transformed R²=0.914 inflated by 27 vars. Lasso removes noise; OLS on selected vars gives parsimonious R² comparable to PCR.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5488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Model: Random Forest  |  R²=0.977  |  CV R²=0.949  |  RMSE=0.101  — captures non-linearity all linear models miss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Study of Regression Models – LTV Prediction</dc:title>
  <dc:subject>PptxGenJS Presentation</dc:subject>
  <dc:creator>PptxGenJS</dc:creator>
  <cp:lastModifiedBy>PptxGenJS</cp:lastModifiedBy>
  <cp:revision>1</cp:revision>
  <dcterms:created xsi:type="dcterms:W3CDTF">2026-04-15T07:47:53Z</dcterms:created>
  <dcterms:modified xsi:type="dcterms:W3CDTF">2026-04-15T07:47:53Z</dcterms:modified>
</cp:coreProperties>
</file>